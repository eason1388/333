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4631a1548c41a1" /><Relationship Type="http://schemas.openxmlformats.org/officeDocument/2006/relationships/extended-properties" Target="/docProps/app.xml" Id="Ra95651b970954e32" /><Relationship Type="http://schemas.openxmlformats.org/officeDocument/2006/relationships/officeDocument" Target="/ppt/presentation.xml" Id="Ra15c99d46c2e45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dddc291b384cfb"/>
  </p:sldMasterIdLst>
  <p:notesMasterIdLst>
    <p:notesMasterId xmlns:r="http://schemas.openxmlformats.org/officeDocument/2006/relationships" r:id="Rd7e9ffb58e6640be"/>
  </p:notesMasterIdLst>
  <p:sldIdLst>
    <p:sldId xmlns:r="http://schemas.openxmlformats.org/officeDocument/2006/relationships" id="256" r:id="R2add90ddec5740df"/>
    <p:sldId xmlns:r="http://schemas.openxmlformats.org/officeDocument/2006/relationships" id="257" r:id="Rd24752a70193442e"/>
    <p:sldId xmlns:r="http://schemas.openxmlformats.org/officeDocument/2006/relationships" id="258" r:id="Rcc8d099c49a34a21"/>
    <p:sldId xmlns:r="http://schemas.openxmlformats.org/officeDocument/2006/relationships" id="259" r:id="Re82a8d5cf8824bf1"/>
    <p:sldId xmlns:r="http://schemas.openxmlformats.org/officeDocument/2006/relationships" id="260" r:id="R7f1c2ae439a94f69"/>
    <p:sldId xmlns:r="http://schemas.openxmlformats.org/officeDocument/2006/relationships" id="261" r:id="R632791261fb84ada"/>
    <p:sldId xmlns:r="http://schemas.openxmlformats.org/officeDocument/2006/relationships" id="262" r:id="Rae5833be6cdd4d0d"/>
    <p:sldId xmlns:r="http://schemas.openxmlformats.org/officeDocument/2006/relationships" id="263" r:id="R5041c5ffd1514107"/>
    <p:sldId xmlns:r="http://schemas.openxmlformats.org/officeDocument/2006/relationships" id="264" r:id="Rcfb2473d32f74d10"/>
    <p:sldId xmlns:r="http://schemas.openxmlformats.org/officeDocument/2006/relationships" id="265" r:id="Ra104a9a8b9da420d"/>
    <p:sldId xmlns:r="http://schemas.openxmlformats.org/officeDocument/2006/relationships" id="266" r:id="R2aef0404b03a419a"/>
    <p:sldId xmlns:r="http://schemas.openxmlformats.org/officeDocument/2006/relationships" id="267" r:id="Rf2a804a8b34e4c2d"/>
    <p:sldId xmlns:r="http://schemas.openxmlformats.org/officeDocument/2006/relationships" id="268" r:id="R0a3a810dc7434d67"/>
    <p:sldId xmlns:r="http://schemas.openxmlformats.org/officeDocument/2006/relationships" id="269" r:id="R76192d069725421e"/>
    <p:sldId xmlns:r="http://schemas.openxmlformats.org/officeDocument/2006/relationships" id="270" r:id="Rede4c38327f44104"/>
    <p:sldId xmlns:r="http://schemas.openxmlformats.org/officeDocument/2006/relationships" id="271" r:id="R3cea79f2eb744502"/>
    <p:sldId xmlns:r="http://schemas.openxmlformats.org/officeDocument/2006/relationships" id="272" r:id="R55132880fb284e42"/>
    <p:sldId xmlns:r="http://schemas.openxmlformats.org/officeDocument/2006/relationships" id="273" r:id="R66c2f3a5c6f44a5f"/>
    <p:sldId xmlns:r="http://schemas.openxmlformats.org/officeDocument/2006/relationships" id="274" r:id="R63fc5947554546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6992c5efaa477e" /><Relationship Type="http://schemas.openxmlformats.org/officeDocument/2006/relationships/slideMaster" Target="/ppt/slideMasters/slideMaster1.xml" Id="R0ddddc291b384cfb" /><Relationship Type="http://schemas.openxmlformats.org/officeDocument/2006/relationships/notesMaster" Target="/ppt/notesMasters/notesMaster1.xml" Id="Rd7e9ffb58e6640be" /><Relationship Type="http://schemas.openxmlformats.org/officeDocument/2006/relationships/presProps" Target="/ppt/presProps.xml" Id="R79ab4887e4104f56" /><Relationship Type="http://schemas.openxmlformats.org/officeDocument/2006/relationships/tableStyles" Target="/ppt/tableStyles.xml" Id="R4f845dbac2574d12" /><Relationship Type="http://schemas.openxmlformats.org/officeDocument/2006/relationships/slide" Target="/ppt/slides/slide1.xml" Id="R2add90ddec5740df" /><Relationship Type="http://schemas.openxmlformats.org/officeDocument/2006/relationships/slide" Target="/ppt/slides/slide2.xml" Id="Rd24752a70193442e" /><Relationship Type="http://schemas.openxmlformats.org/officeDocument/2006/relationships/slide" Target="/ppt/slides/slide3.xml" Id="Rcc8d099c49a34a21" /><Relationship Type="http://schemas.openxmlformats.org/officeDocument/2006/relationships/slide" Target="/ppt/slides/slide4.xml" Id="Re82a8d5cf8824bf1" /><Relationship Type="http://schemas.openxmlformats.org/officeDocument/2006/relationships/slide" Target="/ppt/slides/slide5.xml" Id="R7f1c2ae439a94f69" /><Relationship Type="http://schemas.openxmlformats.org/officeDocument/2006/relationships/slide" Target="/ppt/slides/slide6.xml" Id="R632791261fb84ada" /><Relationship Type="http://schemas.openxmlformats.org/officeDocument/2006/relationships/slide" Target="/ppt/slides/slide7.xml" Id="Rae5833be6cdd4d0d" /><Relationship Type="http://schemas.openxmlformats.org/officeDocument/2006/relationships/slide" Target="/ppt/slides/slide8.xml" Id="R5041c5ffd1514107" /><Relationship Type="http://schemas.openxmlformats.org/officeDocument/2006/relationships/slide" Target="/ppt/slides/slide9.xml" Id="Rcfb2473d32f74d10" /><Relationship Type="http://schemas.openxmlformats.org/officeDocument/2006/relationships/slide" Target="/ppt/slides/slide10.xml" Id="Ra104a9a8b9da420d" /><Relationship Type="http://schemas.openxmlformats.org/officeDocument/2006/relationships/slide" Target="/ppt/slides/slide11.xml" Id="R2aef0404b03a419a" /><Relationship Type="http://schemas.openxmlformats.org/officeDocument/2006/relationships/slide" Target="/ppt/slides/slide12.xml" Id="Rf2a804a8b34e4c2d" /><Relationship Type="http://schemas.openxmlformats.org/officeDocument/2006/relationships/slide" Target="/ppt/slides/slide13.xml" Id="R0a3a810dc7434d67" /><Relationship Type="http://schemas.openxmlformats.org/officeDocument/2006/relationships/slide" Target="/ppt/slides/slide14.xml" Id="R76192d069725421e" /><Relationship Type="http://schemas.openxmlformats.org/officeDocument/2006/relationships/slide" Target="/ppt/slides/slide15.xml" Id="Rede4c38327f44104" /><Relationship Type="http://schemas.openxmlformats.org/officeDocument/2006/relationships/slide" Target="/ppt/slides/slide16.xml" Id="R3cea79f2eb744502" /><Relationship Type="http://schemas.openxmlformats.org/officeDocument/2006/relationships/slide" Target="/ppt/slides/slide17.xml" Id="R55132880fb284e42" /><Relationship Type="http://schemas.openxmlformats.org/officeDocument/2006/relationships/slide" Target="/ppt/slides/slide18.xml" Id="R66c2f3a5c6f44a5f" /><Relationship Type="http://schemas.openxmlformats.org/officeDocument/2006/relationships/slide" Target="/ppt/slides/slide19.xml" Id="R63fc5947554546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5c132ef60a47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d7ff148188458f" /><Relationship Type="http://schemas.openxmlformats.org/officeDocument/2006/relationships/notesMaster" Target="/ppt/notesMasters/notesMaster1.xml" Id="R5d178199e85247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42c33034c94259" /><Relationship Type="http://schemas.openxmlformats.org/officeDocument/2006/relationships/notesMaster" Target="/ppt/notesMasters/notesMaster1.xml" Id="Rc5be2c29c98648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aafee5f4a442a7" /><Relationship Type="http://schemas.openxmlformats.org/officeDocument/2006/relationships/notesMaster" Target="/ppt/notesMasters/notesMaster1.xml" Id="R8537fec891a34f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92286c37ee418a" /><Relationship Type="http://schemas.openxmlformats.org/officeDocument/2006/relationships/notesMaster" Target="/ppt/notesMasters/notesMaster1.xml" Id="R3783cd220b1c49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6100c6c8bb4f54" /><Relationship Type="http://schemas.openxmlformats.org/officeDocument/2006/relationships/notesMaster" Target="/ppt/notesMasters/notesMaster1.xml" Id="Rac89757bf5a040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ceaef968904f71" /><Relationship Type="http://schemas.openxmlformats.org/officeDocument/2006/relationships/notesMaster" Target="/ppt/notesMasters/notesMaster1.xml" Id="R1dbaec5dec1d4a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776aa1ee1644ad" /><Relationship Type="http://schemas.openxmlformats.org/officeDocument/2006/relationships/notesMaster" Target="/ppt/notesMasters/notesMaster1.xml" Id="R3ed1a6f26dcd42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04be33536640bc" /><Relationship Type="http://schemas.openxmlformats.org/officeDocument/2006/relationships/notesMaster" Target="/ppt/notesMasters/notesMaster1.xml" Id="Rc00a92d7ee964e9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d185e7a95d4d4c" /><Relationship Type="http://schemas.openxmlformats.org/officeDocument/2006/relationships/notesMaster" Target="/ppt/notesMasters/notesMaster1.xml" Id="R5727735d260544a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ec8af7abd74efe" /><Relationship Type="http://schemas.openxmlformats.org/officeDocument/2006/relationships/notesMaster" Target="/ppt/notesMasters/notesMaster1.xml" Id="R4e4398195511454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a76adf5a07849fa" /><Relationship Type="http://schemas.openxmlformats.org/officeDocument/2006/relationships/notesMaster" Target="/ppt/notesMasters/notesMaster1.xml" Id="R5f8bda2d23054a0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4eadf48505149be" /><Relationship Type="http://schemas.openxmlformats.org/officeDocument/2006/relationships/notesMaster" Target="/ppt/notesMasters/notesMaster1.xml" Id="R6001e884b71c498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8b1e84d0553428f" /><Relationship Type="http://schemas.openxmlformats.org/officeDocument/2006/relationships/notesMaster" Target="/ppt/notesMasters/notesMaster1.xml" Id="R4be2a7bfac5b45e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a3754ef387c4ab6" /><Relationship Type="http://schemas.openxmlformats.org/officeDocument/2006/relationships/notesMaster" Target="/ppt/notesMasters/notesMaster1.xml" Id="R30fc968dbf4c498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f59d262da1a4a9b" /><Relationship Type="http://schemas.openxmlformats.org/officeDocument/2006/relationships/notesMaster" Target="/ppt/notesMasters/notesMaster1.xml" Id="R68309d4132ab4e6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6a2cde45f494995" /><Relationship Type="http://schemas.openxmlformats.org/officeDocument/2006/relationships/notesMaster" Target="/ppt/notesMasters/notesMaster1.xml" Id="R1695bebebeb7470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57c1a02e8be423f" /><Relationship Type="http://schemas.openxmlformats.org/officeDocument/2006/relationships/notesMaster" Target="/ppt/notesMasters/notesMaster1.xml" Id="R86a2e871767a4ac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8fd12ae2a774243" /><Relationship Type="http://schemas.openxmlformats.org/officeDocument/2006/relationships/notesMaster" Target="/ppt/notesMasters/notesMaster1.xml" Id="R5e250d59751a419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f727185de8f4ade" /><Relationship Type="http://schemas.openxmlformats.org/officeDocument/2006/relationships/notesMaster" Target="/ppt/notesMasters/notesMaster1.xml" Id="R09d74b8c4d4c4b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C:\Users\eason1288\Documents\上課資料夾\紫微斗數課程\紫微斗數_第15堂_學生講義.docx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C:\Users\eason1288\Documents\上課資料夾\紫微斗數課程\紫微斗數_第15堂_學生講義.docx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C:\Users\eason1288\Documents\上課資料夾\紫微斗數課程\紫微斗數_第15堂_學生講義.docx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C:\Users\eason1288\Documents\上課資料夾\紫微斗數課程\紫微斗數_第15堂_學生講義.docx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C:\Users\eason1288\Documents\上課資料夾\紫微斗數課程\紫微斗數_第15堂_學生講義.docx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C:\Users\eason1288\Documents\上課資料夾\紫微斗數課程\紫微斗數_第15堂_學生講義.docx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C:\Users\eason1288\Documents\上課資料夾\紫微斗數課程\紫微斗數_第15堂_學生講義.docx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C:\Users\eason1288\Documents\上課資料夾\紫微斗數課程\紫微斗數_第15堂_學生講義.docx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C:\Users\eason1288\Documents\上課資料夾\紫微斗數課程\紫微斗數_第15堂_學生講義.docx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C:\Users\eason1288\Documents\上課資料夾\紫微斗數課程\紫微斗數_第15堂_學生講義.docx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C:\Users\eason1288\Documents\上課資料夾\紫微斗數課程\紫微斗數_第15堂_學生講義.docx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C:\Users\eason1288\Documents\上課資料夾\紫微斗數課程\紫微斗數_第15堂_學生講義.docx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C:\Users\eason1288\Documents\上課資料夾\紫微斗數課程\紫微斗數_第15堂_學生講義.docx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C:\Users\eason1288\Documents\上課資料夾\紫微斗數課程\紫微斗數_第15堂_學生講義.docx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C:\Users\eason1288\Documents\上課資料夾\紫微斗數課程\紫微斗數_第15堂_學生講義.docx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C:\Users\eason1288\Documents\上課資料夾\紫微斗數課程\紫微斗數_第15堂_學生講義.docx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C:\Users\eason1288\Documents\上課資料夾\紫微斗數課程\紫微斗數_第15堂_學生講義.docx</a:t>
            </a:r>
          </a:p>
          <a:p xmlns:a="http://schemas.openxmlformats.org/drawingml/2006/main">
            <a:r>
              <a:t>學生版：本頁內容依學生講義段落整理，未加入教師版解答。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C:\Users\eason1288\Documents\上課資料夾\紫微斗數課程\紫微斗數_第15堂_學生講義.docx</a:t>
            </a:r>
          </a:p>
          <a:p xmlns:a="http://schemas.openxmlformats.org/drawingml/2006/main">
            <a:r>
              <a:t>學生版：本頁表格依學生講義原表格轉製。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C:\Users\eason1288\Documents\上課資料夾\紫微斗數課程\紫微斗數_第15堂_學生講義.docx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4c20841cdd47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76ffd56dde4509" /><Relationship Type="http://schemas.openxmlformats.org/officeDocument/2006/relationships/slideLayout" Target="/ppt/slideLayouts/slideLayout1.xml" Id="Rfc89913662d44d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89913662d44d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f9fec5c0c945f0" /><Relationship Type="http://schemas.openxmlformats.org/officeDocument/2006/relationships/notesSlide" Target="/ppt/notesSlides/notesSlide1.xml" Id="R772150f48e044e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40b9073ce7466e" /><Relationship Type="http://schemas.openxmlformats.org/officeDocument/2006/relationships/notesSlide" Target="/ppt/notesSlides/notesSlide2.xml" Id="Rca57bca7cfe944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f235c392f436a" /><Relationship Type="http://schemas.openxmlformats.org/officeDocument/2006/relationships/notesSlide" Target="/ppt/notesSlides/notesSlide3.xml" Id="Rd871d914f8914e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2b69dc81943c9" /><Relationship Type="http://schemas.openxmlformats.org/officeDocument/2006/relationships/notesSlide" Target="/ppt/notesSlides/notesSlide4.xml" Id="R5d1f0ba3208647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a5420acb1b4562" /><Relationship Type="http://schemas.openxmlformats.org/officeDocument/2006/relationships/notesSlide" Target="/ppt/notesSlides/notesSlide5.xml" Id="Rf27fc91c6f2646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a0b142b5934042" /><Relationship Type="http://schemas.openxmlformats.org/officeDocument/2006/relationships/notesSlide" Target="/ppt/notesSlides/notesSlide6.xml" Id="R9ef66ec8f7c3495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57a1c9d3249ab" /><Relationship Type="http://schemas.openxmlformats.org/officeDocument/2006/relationships/notesSlide" Target="/ppt/notesSlides/notesSlide7.xml" Id="R71bda1f9dea347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4886ba5a34cc9" /><Relationship Type="http://schemas.openxmlformats.org/officeDocument/2006/relationships/notesSlide" Target="/ppt/notesSlides/notesSlide8.xml" Id="Rca3b7eaa4a494b2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2c8f2a2fc041c3" /><Relationship Type="http://schemas.openxmlformats.org/officeDocument/2006/relationships/notesSlide" Target="/ppt/notesSlides/notesSlide9.xml" Id="R19c038f0649643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ee321470ce4434" /><Relationship Type="http://schemas.openxmlformats.org/officeDocument/2006/relationships/notesSlide" Target="/ppt/notesSlides/notesSlide10.xml" Id="R510092f6a35849b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18a6a1646422d" /><Relationship Type="http://schemas.openxmlformats.org/officeDocument/2006/relationships/notesSlide" Target="/ppt/notesSlides/notesSlide11.xml" Id="R208d4da1526e4f6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6cf12101a4174" /><Relationship Type="http://schemas.openxmlformats.org/officeDocument/2006/relationships/notesSlide" Target="/ppt/notesSlides/notesSlide12.xml" Id="R88e110345247499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0f12cde0c459b" /><Relationship Type="http://schemas.openxmlformats.org/officeDocument/2006/relationships/notesSlide" Target="/ppt/notesSlides/notesSlide13.xml" Id="R3699d70bf5bc458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e7b7a702dc4427" /><Relationship Type="http://schemas.openxmlformats.org/officeDocument/2006/relationships/notesSlide" Target="/ppt/notesSlides/notesSlide14.xml" Id="R6bb4c4420f8046b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03f6840624044" /><Relationship Type="http://schemas.openxmlformats.org/officeDocument/2006/relationships/notesSlide" Target="/ppt/notesSlides/notesSlide15.xml" Id="Raea466a09d9e472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6d93db33249e5" /><Relationship Type="http://schemas.openxmlformats.org/officeDocument/2006/relationships/notesSlide" Target="/ppt/notesSlides/notesSlide16.xml" Id="Rb618b12bffd0454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a0375850b24c4b" /><Relationship Type="http://schemas.openxmlformats.org/officeDocument/2006/relationships/notesSlide" Target="/ppt/notesSlides/notesSlide17.xml" Id="Rc6ef6b58ef7b405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cc087d33f403b" /><Relationship Type="http://schemas.openxmlformats.org/officeDocument/2006/relationships/notesSlide" Target="/ppt/notesSlides/notesSlide18.xml" Id="R6052e5ee36134d0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b2319ffb424329" /><Relationship Type="http://schemas.openxmlformats.org/officeDocument/2006/relationships/notesSlide" Target="/ppt/notesSlides/notesSlide19.xml" Id="Rd4bd0516db8942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C5F62A-B7ED-42E0-A21C-58A0575A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485900"/>
            <a:ext cx="1295400" cy="1295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3AD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29401C-23DF-4D38-9A5B-DE3449E9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8097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拾伍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B53B3-B815-4F25-8919-86CF1CAB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066800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Z I   W E I   D O U   S H U ·  STUDENT HANDBOOK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939FE4-E028-4936-97A6-864FFDCC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飛化串連 · 十二宮因果推演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C26202-0567-44FB-82F3-547FC76D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290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F0D58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F0D58D"/>
                </a:solidFill>
                <a:latin typeface="Microsoft JhengHei"/>
                <a:ea typeface="Microsoft JhengHei"/>
                <a:cs typeface="Microsoft JhengHei"/>
              </a:rPr>
              <a:t>第15堂 · 學生版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2DF68F-2E7F-41C4-9CBF-93E1C803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529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學 生 版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時數 3 小時 | 三合為體，飛星為用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壹、命宮飛化入十二宮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命宮代表「我」。以命宮宮干飛出的四化,飛入哪一宮,就代表「我」對那個領域的態度、緣分與投入方向。命祿入某宮=我對它有緣、有得、樂在其中;命忌入某宮=我對它最在意、最放不下、也最易為它操心糾纏。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EFA38-26F3-4DB2-86AE-55671C99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9626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學生版 · 保留學生講義原文與表格內容</a:t>
            </a:r>
          </a:p>
        </p:txBody>
      </p:sp>
    </p:spTree>
    <p:extLst>
      <p:ext uri="{BB962C8B-B14F-4D97-AF65-F5344CB8AC3E}">
        <p14:creationId xmlns:p14="http://schemas.microsoft.com/office/powerpoint/2010/main" val="2833902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97487-BBA6-4F29-9D77-30E9C0FD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87EC9B-A44B-4D7E-B929-1F7A73C1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講義表格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7D55D3-488C-4B8A-9313-582D288F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本堂學習目標 1. 掌握命宮飛四化入十二宮的意義——「我」對各領域的態度與緣分。 2. 認識「來因宮」——一生因緣的源頭。 3. 學會宮位互飛,論出宮與宮之間「誰影響誰」的因果。 4. 掌握祿隨忌走、忌出忌入、忌沖等飛化法則。 5. 能順著祿與忌的流向,把飛化線串成一段有前因後果的故事。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56DD17-35DB-4CC6-A79C-51965922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拾伍   002</a:t>
            </a:r>
          </a:p>
        </p:txBody>
      </p:sp>
    </p:spTree>
    <p:extLst>
      <p:ext uri="{BB962C8B-B14F-4D97-AF65-F5344CB8AC3E}">
        <p14:creationId xmlns:p14="http://schemas.microsoft.com/office/powerpoint/2010/main" val="20286077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42F297-4348-4A21-BC8C-FA8C7B70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1B82B3-0EC0-45D7-A24B-5BFD4BDD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壹、命宮飛化入十二宮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685852-7BB7-4E98-8BE3-D36FD089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198184-2CAC-4F10-93C1-6AC372E7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BD043-0185-4265-BCDD-E2213473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命宮代表「我」。以命宮宮干飛出的四化,飛入哪一宮,就代表「我」對那個領域的態度、緣分與投入方向。命祿入某宮=我對它有緣、有得、樂在其中;命忌入某宮=我對它最在意、最放不下、也最易為它操心糾纏。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57785-F342-4801-BEC4-13CBE021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拾伍   003</a:t>
            </a:r>
          </a:p>
        </p:txBody>
      </p:sp>
    </p:spTree>
    <p:extLst>
      <p:ext uri="{BB962C8B-B14F-4D97-AF65-F5344CB8AC3E}">
        <p14:creationId xmlns:p14="http://schemas.microsoft.com/office/powerpoint/2010/main" val="14063207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CE4E9C-8AEF-4155-9861-B6C35E41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63A302-1478-4585-9F2B-56000663E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壹、命宮飛化入十二宮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736BEF-E0F6-4723-854C-695A7BD0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9388"/>
                <a:gridCol w="2719388"/>
                <a:gridCol w="2719388"/>
                <a:gridCol w="2719388"/>
              </a:tblGrid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命宮化祿飛入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意義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命宮化忌飛入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意義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入財帛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愛賺會賺、有財緣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入財帛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為錢操心、視財如命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入官祿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熱愛工作、事業有成就感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入官祿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事業心重、放不下工作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入夫妻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疼另一半、感情有緣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入夫妻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在意配偶、易佔有糾纏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入田宅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顧家、能置產守財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入田宅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守家守財、放不下家業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入福德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懂享受、心寬有福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入福德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想太多、鑽牛角尖勞心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入六親宮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對該六親好、有緣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入疾厄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健康是罩門、易勞損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1CD3CB-F03A-4217-8D5C-129A6965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拾伍   004</a:t>
            </a:r>
          </a:p>
        </p:txBody>
      </p:sp>
    </p:spTree>
    <p:extLst>
      <p:ext uri="{BB962C8B-B14F-4D97-AF65-F5344CB8AC3E}">
        <p14:creationId xmlns:p14="http://schemas.microsoft.com/office/powerpoint/2010/main" val="14537886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FE04F9-164D-4674-AE8B-5FF6DEFB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E87AC8-BEC9-42CF-8D7E-286064F77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壹、命宮飛化入十二宮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DAF292-2CF5-4021-A047-F9735A8B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D6419-948A-496E-B114-393F188F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D9E00F-6E6F-4EE0-BEA0-81E73FEC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同理,不只命宮,任何一宮都能飛化入他宮,論該宮對其他領域的態度與影響。命宮飛化是入門的第一組,先練熟它。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293839-38DC-4A04-85CC-007E4613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拾伍   005</a:t>
            </a:r>
          </a:p>
        </p:txBody>
      </p:sp>
    </p:spTree>
    <p:extLst>
      <p:ext uri="{BB962C8B-B14F-4D97-AF65-F5344CB8AC3E}">
        <p14:creationId xmlns:p14="http://schemas.microsoft.com/office/powerpoint/2010/main" val="6370168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580E08-A581-4F9B-AABA-9929DCFB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7855A2-B473-465C-895C-45DB25AE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貳、來因宮 —— 一生因緣的源頭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1427BF-B3D6-481C-B7E1-1C41ED97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A174C3-5754-4112-A598-206630E4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8313D5-7768-4C5B-98FE-B2D11430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生年四化(尤其生年祿)所坐落的那一宮,稱為「來因宮」。它是一個人「與生俱來」的因緣起點——你這一生的性情來歷、最初的驅動力、乃至福分的源頭,都與來因宮所在的領域有關。論一個人「為何而來、根性如何」,先看來因宮落在何處(如落財帛主天生為財、落福德主天生重精神享受、落夫妻主一生因情而來)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3BBE55-A49D-4FA1-9F2D-F79DA907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拾伍   006</a:t>
            </a:r>
          </a:p>
        </p:txBody>
      </p:sp>
    </p:spTree>
    <p:extLst>
      <p:ext uri="{BB962C8B-B14F-4D97-AF65-F5344CB8AC3E}">
        <p14:creationId xmlns:p14="http://schemas.microsoft.com/office/powerpoint/2010/main" val="17368837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2D5906-8364-40E5-83F6-20AAE59F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726BDD-06B2-42D5-A72C-5C816E3E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參、宮位互飛 —— 誰影響誰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0845F0-A6C9-4EE2-ADB6-875348EF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E7D94C-750E-4729-8EEB-CD6AA833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2D1A4C-A059-4FC6-B8C7-3DCBA6A2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真正的因果,出現在「宮與宮互飛」。他宮飛入命=別人/該領域影響我;命(或某宮)飛入他宮=我影響/在意該對象。方向,決定了「誰欠誰、誰為誰」: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F0E36B-0D59-469C-A0E8-E4878A9D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拾伍   007</a:t>
            </a:r>
          </a:p>
        </p:txBody>
      </p:sp>
    </p:spTree>
    <p:extLst>
      <p:ext uri="{BB962C8B-B14F-4D97-AF65-F5344CB8AC3E}">
        <p14:creationId xmlns:p14="http://schemas.microsoft.com/office/powerpoint/2010/main" val="18344031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333D01-056B-407D-A8CC-B38C4C93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3FE4D8-C0A0-424F-B39C-36877206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參、宮位互飛 —— 誰影響誰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F42727-15CE-4012-855A-2FD793C7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38775"/>
                <a:gridCol w="5438775"/>
              </a:tblGrid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飛化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解讀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夫妻化忌入命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配偶讓我操心、感情牽動我心緒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子女化祿入財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子女帶財、或合夥投資有得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財帛化忌入夫妻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為配偶花錢、或因財而傷感情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官祿化祿入命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事業帶給我成就與快樂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父母化忌入疾厄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長上/遺傳影響我的健康、壓力來自長輩</a:t>
                      </a:r>
                    </a:p>
                  </a:txBody>
                  <a:tcPr marL="91440" marR="91440" marT="45720" marB="45720" anchor="ctr">
                    <a:solidFill>
                      <a:srgbClr val="2A2347"/>
                    </a:solidFill>
                  </a:tcPr>
                </a:tc>
              </a:tr>
              <a:tr h="642257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命化忌入交友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0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我為朋友付出、易被朋友所累</a:t>
                      </a:r>
                    </a:p>
                  </a:txBody>
                  <a:tcPr marL="91440" marR="91440" marT="45720" marB="45720" anchor="ctr">
                    <a:solidFill>
                      <a:srgbClr val="211B3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8DEEE4-AC03-4C70-A1AC-45ECA49F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拾伍   008</a:t>
            </a:r>
          </a:p>
        </p:txBody>
      </p:sp>
    </p:spTree>
    <p:extLst>
      <p:ext uri="{BB962C8B-B14F-4D97-AF65-F5344CB8AC3E}">
        <p14:creationId xmlns:p14="http://schemas.microsoft.com/office/powerpoint/2010/main" val="15897128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F661DA-28C2-4DBC-990C-BC2334E0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F991E5-8DE2-4F1A-9D57-7181E959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參、宮位互飛 —— 誰影響誰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7052CD-9A82-405F-8D68-96D04A28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師傳心法 飛星論斷,像「查案追金流」——順著祿的流向講緣分與收穫,順著忌的流向講牽掛與付出,一條線就是一段有前因後果的情節。能把一段感情、一次轉職的來龍去脈說得絲絲入扣,正是讓客戶當場說「你怎麼會知道」的關鍵功夫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F71393-A7F4-4C4C-94B6-B561AB01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拾伍   009</a:t>
            </a:r>
          </a:p>
        </p:txBody>
      </p:sp>
    </p:spTree>
    <p:extLst>
      <p:ext uri="{BB962C8B-B14F-4D97-AF65-F5344CB8AC3E}">
        <p14:creationId xmlns:p14="http://schemas.microsoft.com/office/powerpoint/2010/main" val="11837224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ACD0C1-A597-40C8-981E-357876B7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77D3C6-1ADA-42BD-822C-FF2BA87E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肆、飛化的重要法則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C1C35C-009E-434F-AF22-3D9530F7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005A56-87F0-47BB-9434-A5F16AA2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70A49D-2F51-4D62-9537-D7F4F8B3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祿入為緣 化祿飛入之宮=有緣、得力、順遂、收穫之處。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忌入為債 化忌飛入之宮=牽掛、虧欠、付出、放不下之處。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忌沖為破 化忌不只入本宮,還「沖」其對宮——被沖之宮的人事易生變動、損耗(如忌入夫妻則沖官祿,感情波動連累事業)。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祿隨忌走 化祿與化忌若同落一宮或相連,喜中藏憂、得中帶失——好事伴著代價,福需守方留。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忌出為漏 本宮自化忌(忌向外飛出)=該宮能量漏失、留不住、不由自主地付出。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4187A5-375C-47FF-96D0-BBC17F38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拾伍   010</a:t>
            </a:r>
          </a:p>
        </p:txBody>
      </p:sp>
    </p:spTree>
    <p:extLst>
      <p:ext uri="{BB962C8B-B14F-4D97-AF65-F5344CB8AC3E}">
        <p14:creationId xmlns:p14="http://schemas.microsoft.com/office/powerpoint/2010/main" val="8044383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E14A42-D1E4-424C-892A-7CD2AA3F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475F8A-C0B7-4048-A4CA-4B8ED4B0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肆、飛化的重要法則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70B9A7-5726-42DF-B786-B1327168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7244F6-BF6E-4625-9B54-8F19B973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8DEE44-4259-40EC-A0AB-CA34961D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掌握這五條,飛化就有了吉凶輕重的準繩,不會「為連而連」、每條線都當大事。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6E4B42-0161-4B43-BB85-6377BB14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拾伍   011</a:t>
            </a:r>
          </a:p>
        </p:txBody>
      </p:sp>
    </p:spTree>
    <p:extLst>
      <p:ext uri="{BB962C8B-B14F-4D97-AF65-F5344CB8AC3E}">
        <p14:creationId xmlns:p14="http://schemas.microsoft.com/office/powerpoint/2010/main" val="2887096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99C888-2379-48D7-BB6A-9B4A1F18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00F48D-077D-4C18-BDBA-E724A941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伍、串連成故事:案例還原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8AEC8-5A8F-4949-8F1F-91FD8D2B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4314AC-354A-4643-9E00-D1DC9075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650A01-CD95-46BB-B357-C8AB11D0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把上述法則合起來,就能「還原」一段人生。示範一段感情的飛化推理: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D141C8-EF61-47DC-BDB8-B7AA021E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拾伍   012</a:t>
            </a:r>
          </a:p>
        </p:txBody>
      </p:sp>
    </p:spTree>
    <p:extLst>
      <p:ext uri="{BB962C8B-B14F-4D97-AF65-F5344CB8AC3E}">
        <p14:creationId xmlns:p14="http://schemas.microsoft.com/office/powerpoint/2010/main" val="4798229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129F76-16DA-4BFD-AE1F-D79723C4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F6DD6-8FBA-4AFC-87D2-617562A1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伍、串連成故事:案例還原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051250-2779-4EE0-B539-0FD6341D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飛化串連示範(感情) ① 命化祿入夫妻:我對感情投入、疼另一半、有緣。(緣起) ② 夫妻化忌入財帛:配偶為錢的事讓我操心、因財生嫌隙。(轉折) ③ 財帛忌沖福德:金錢壓力連帶影響心情與感情品質。(擴散) ④ 福德自化忌:自己又想不開、悶著耗。(漏失) → 串成一句:「你對感情很投入,但兩人常為錢起摩擦,你又愛悶在心裡,越想越鑽——問題根源在金錢溝通,不在感情本身。」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E02F1F-C7E4-48DC-8AEC-ECB29421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拾伍   013</a:t>
            </a:r>
          </a:p>
        </p:txBody>
      </p:sp>
    </p:spTree>
    <p:extLst>
      <p:ext uri="{BB962C8B-B14F-4D97-AF65-F5344CB8AC3E}">
        <p14:creationId xmlns:p14="http://schemas.microsoft.com/office/powerpoint/2010/main" val="177258208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A050D4-E4E9-4794-9F95-D7A1A87E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4C8EB-5185-4D2C-8004-89947084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伍、串連成故事:案例還原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B158CF-E378-4A46-B8A2-CB888074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E51CFD-A7A4-4A33-9E11-FF998F98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5C44E4-6E2F-49C4-BA0D-23EEDAF8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這就是飛星的威力:不只說「有沒有」,而是說出「為什麼、怎麼演變、癥結在哪」。第十六堂會把這套串連法,實戰運用到感情、財富、健康三大主題。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FE9889-D839-4C48-9D13-90E2C71D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拾伍   014</a:t>
            </a:r>
          </a:p>
        </p:txBody>
      </p:sp>
    </p:spTree>
    <p:extLst>
      <p:ext uri="{BB962C8B-B14F-4D97-AF65-F5344CB8AC3E}">
        <p14:creationId xmlns:p14="http://schemas.microsoft.com/office/powerpoint/2010/main" val="2153956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D3D40D-464A-4259-9C44-04DB10AC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B8938D-B4D8-49FE-B2A7-1999A0FE4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隨堂練習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1AEB56-63D2-4BBF-B31C-EFC3CF39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A6AA66-865B-45A7-A49B-1D59C2D3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B11F84-B8CA-47E5-A371-C61B0D57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練習一 「命化祿入夫妻」與「命化忌入夫妻」,各主什麼?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練習二 什麼是「來因宮」?它代表一個人的什麼?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練習三 「夫妻化忌入命」怎麼解讀?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練習四 說明「忌沖」與「祿隨忌走」兩法則。 ______________________________________________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練習五 用飛化,還原你自己一段已知的事(感情/轉職/搬遷),畫出因果線: ______________________________________________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43AB5B-D23F-4A51-9108-F8533198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拾伍   015</a:t>
            </a:r>
          </a:p>
        </p:txBody>
      </p:sp>
    </p:spTree>
    <p:extLst>
      <p:ext uri="{BB962C8B-B14F-4D97-AF65-F5344CB8AC3E}">
        <p14:creationId xmlns:p14="http://schemas.microsoft.com/office/powerpoint/2010/main" val="5411244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DE5E53-D3A4-4026-BE86-B7C04797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030F8-7C9B-4EFE-BF9F-ACBFCE9D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隨堂練習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66F56C-ACDD-4ECB-B92A-243D6D60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B3D501-D9D3-4462-B76E-EC2A7378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282044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C8F4BA-A6F7-4654-A712-51E57FB1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______________________________________________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29C615-7490-4B95-B9C7-42794900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拾伍   016</a:t>
            </a:r>
          </a:p>
        </p:txBody>
      </p:sp>
    </p:spTree>
    <p:extLst>
      <p:ext uri="{BB962C8B-B14F-4D97-AF65-F5344CB8AC3E}">
        <p14:creationId xmlns:p14="http://schemas.microsoft.com/office/powerpoint/2010/main" val="1654406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65EC2B-984B-4AA7-A7B9-215F1BED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NOTES · 拾伍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8800B-7EED-4E2C-85E3-9B187F21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課後作業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3E4BD2-8B4C-43D8-85A6-D3AD2C1F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以下內容依學生講義原順序整理，保留原文語意，不加入教師解答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F9CEC7-7418-49B6-B403-8F8DFA53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62100"/>
            <a:ext cx="10877550" cy="4495800"/>
          </a:xfrm>
          <a:prstGeom xmlns:a="http://schemas.openxmlformats.org/drawingml/2006/main" prst="roundRect">
            <a:avLst>
              <a:gd name="adj" fmla="val 2119"/>
            </a:avLst>
          </a:prstGeom>
          <a:solidFill xmlns:a="http://schemas.openxmlformats.org/drawingml/2006/main">
            <a:srgbClr val="1E1835"/>
          </a:solidFill>
          <a:ln xmlns:a="http://schemas.openxmlformats.org/drawingml/2006/main" w="9525">
            <a:solidFill>
              <a:srgbClr val="51477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38FCB9-4C0F-4CE6-9B93-1D22BEF8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2870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1. 列出自己命宮飛四化各入何宮,逐一寫出對該領域的態度與緣分。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2. 選一段自己已知的人生事件,用飛化完整還原其因果路徑(至少三條線)。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3. 找出自己的來因宮,寫一段「我為何而來」的自我印證。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8F615B-7CDF-4F66-8908-1974F0E1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拾伍   017</a:t>
            </a:r>
          </a:p>
        </p:txBody>
      </p:sp>
    </p:spTree>
    <p:extLst>
      <p:ext uri="{BB962C8B-B14F-4D97-AF65-F5344CB8AC3E}">
        <p14:creationId xmlns:p14="http://schemas.microsoft.com/office/powerpoint/2010/main" val="140243222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434D1B-0E10-4BFC-841F-9DE4422D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STUDENT TABLE · 拾伍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7E608-8F62-435B-8B29-B754F88D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課後作業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93F0DC-AC4B-4825-B953-B97EAEFF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00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表格內容依學生講義保留，必要時分頁以維持投影閱讀性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38175" y="1562100"/>
          <a:ext xmlns:a="http://schemas.openxmlformats.org/drawingml/2006/main" cx="1087755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877550"/>
              </a:tblGrid>
              <a:tr h="4495800">
                <a:tc>
                  <a:txBody>
                    <a:bodyPr wrap="square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F2EFF8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下堂預告 第十六堂:三合飛星整合實戰 · 情 · 財 · 健康。將把三合(體)與飛星(用)合一,對感情、財富、健康做立體、有因果的論斷——這是你日後收費論命的核心競爭力。</a:t>
                      </a:r>
                    </a:p>
                  </a:txBody>
                  <a:tcPr marL="91440" marR="91440" marT="45720" marB="45720" anchor="ctr">
                    <a:solidFill>
                      <a:srgbClr val="8064B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45FC48-55CF-4403-B43F-BC4EEE3D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拾伍   018</a:t>
            </a:r>
          </a:p>
        </p:txBody>
      </p:sp>
    </p:spTree>
    <p:extLst>
      <p:ext uri="{BB962C8B-B14F-4D97-AF65-F5344CB8AC3E}">
        <p14:creationId xmlns:p14="http://schemas.microsoft.com/office/powerpoint/2010/main" val="15886712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713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F05538-19D8-4374-B1CF-46BB58E6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562100"/>
            <a:ext cx="1238250" cy="1238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3AD5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2D640D-F6EA-4B4D-944D-824E2354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85950"/>
            <a:ext cx="68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568059-624F-4F1E-ACB0-0268CC9A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147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F2EFF8"/>
                </a:solidFill>
                <a:latin typeface="Microsoft JhengHei"/>
                <a:ea typeface="Microsoft JhengHei"/>
                <a:cs typeface="Microsoft JhengHei"/>
              </a:rPr>
              <a:t>學生講義 · 本堂內容完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80D81D-FCA3-4D23-A9CE-DE542E3D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914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C1B9D5"/>
                </a:solidFill>
                <a:latin typeface="Microsoft JhengHei"/>
                <a:ea typeface="Microsoft JhengHei"/>
                <a:cs typeface="Microsoft JhengHei"/>
              </a:rPr>
              <a:t>請回到原講義逐項複習，將名詞、規則與練習題寫在自己的命盤或筆記上。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A90DE7-6BB2-42C4-BD46-0AEDDD33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9626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D3AD5D"/>
                </a:solidFill>
                <a:latin typeface="Microsoft JhengHei"/>
                <a:ea typeface="Microsoft JhengHei"/>
                <a:cs typeface="Microsoft JhengHei"/>
              </a:rPr>
              <a:t>學生版 · 不含教師解答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64ACE3-3FDD-4BE7-9342-E4341000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534150"/>
            <a:ext cx="1085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>
                <a:solidFill>
                  <a:srgbClr val="82799D"/>
                </a:solidFill>
                <a:latin typeface="Microsoft JhengHei"/>
                <a:ea typeface="Microsoft JhengHei"/>
                <a:cs typeface="Microsoft JhengHei"/>
              </a:rPr>
              <a:t>紫微斗數 · 學生講義轉製版   拾伍   019</a:t>
            </a:r>
          </a:p>
        </p:txBody>
      </p:sp>
    </p:spTree>
    <p:extLst>
      <p:ext uri="{BB962C8B-B14F-4D97-AF65-F5344CB8AC3E}">
        <p14:creationId xmlns:p14="http://schemas.microsoft.com/office/powerpoint/2010/main" val="10602710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2026-09-13T05:37:53.6960000Z</dcterms:created>
  <dcterms:modified xsi:type="dcterms:W3CDTF">2026-09-13T05:37:53.6960000Z</dcterms:modified>
</coreProperties>
</file>